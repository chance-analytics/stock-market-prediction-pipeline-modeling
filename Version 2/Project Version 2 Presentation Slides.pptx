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7" r:id="rId1"/>
  </p:sldMasterIdLst>
  <p:notesMasterIdLst>
    <p:notesMasterId r:id="rId14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003"/>
    <p:restoredTop sz="94690"/>
  </p:normalViewPr>
  <p:slideViewPr>
    <p:cSldViewPr snapToGrid="0">
      <p:cViewPr varScale="1">
        <p:scale>
          <a:sx n="151" d="100"/>
          <a:sy n="151" d="100"/>
        </p:scale>
        <p:origin x="9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D2373E2-0915-48E6-9D61-B2450581A230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9C75116-EA46-4A79-9685-BD1C0C9B282D}">
      <dgm:prSet/>
      <dgm:spPr/>
      <dgm:t>
        <a:bodyPr/>
        <a:lstStyle/>
        <a:p>
          <a:r>
            <a:rPr lang="en-US"/>
            <a:t>Objective: Predict daily buy/sell signals for SPY ETF</a:t>
          </a:r>
        </a:p>
      </dgm:t>
    </dgm:pt>
    <dgm:pt modelId="{19DDB263-ADD6-41FF-977F-DDA67F2EFB7C}" type="parTrans" cxnId="{3680AD3E-B203-40D2-8869-E94C7523CBB6}">
      <dgm:prSet/>
      <dgm:spPr/>
      <dgm:t>
        <a:bodyPr/>
        <a:lstStyle/>
        <a:p>
          <a:endParaRPr lang="en-US"/>
        </a:p>
      </dgm:t>
    </dgm:pt>
    <dgm:pt modelId="{BC0968B7-23F8-4B85-A207-B1272DA69E20}" type="sibTrans" cxnId="{3680AD3E-B203-40D2-8869-E94C7523CBB6}">
      <dgm:prSet/>
      <dgm:spPr/>
      <dgm:t>
        <a:bodyPr/>
        <a:lstStyle/>
        <a:p>
          <a:endParaRPr lang="en-US"/>
        </a:p>
      </dgm:t>
    </dgm:pt>
    <dgm:pt modelId="{E4E2D0E0-C609-48C0-B6AB-EF2E44A50522}">
      <dgm:prSet/>
      <dgm:spPr/>
      <dgm:t>
        <a:bodyPr/>
        <a:lstStyle/>
        <a:p>
          <a:r>
            <a:rPr lang="en-US"/>
            <a:t>Why? Stock market prediction is challenging but valuable</a:t>
          </a:r>
        </a:p>
      </dgm:t>
    </dgm:pt>
    <dgm:pt modelId="{3F346C22-D31D-41DC-88BE-E2B9AD884330}" type="parTrans" cxnId="{9CF9FABA-06A3-4462-851A-B7DADAEADAD9}">
      <dgm:prSet/>
      <dgm:spPr/>
      <dgm:t>
        <a:bodyPr/>
        <a:lstStyle/>
        <a:p>
          <a:endParaRPr lang="en-US"/>
        </a:p>
      </dgm:t>
    </dgm:pt>
    <dgm:pt modelId="{4073B684-7253-4B17-84CD-CE19352F58E5}" type="sibTrans" cxnId="{9CF9FABA-06A3-4462-851A-B7DADAEADAD9}">
      <dgm:prSet/>
      <dgm:spPr/>
      <dgm:t>
        <a:bodyPr/>
        <a:lstStyle/>
        <a:p>
          <a:endParaRPr lang="en-US"/>
        </a:p>
      </dgm:t>
    </dgm:pt>
    <dgm:pt modelId="{3417A8D7-B477-4E19-A25D-B9D21695A5A0}">
      <dgm:prSet/>
      <dgm:spPr/>
      <dgm:t>
        <a:bodyPr/>
        <a:lstStyle/>
        <a:p>
          <a:r>
            <a:rPr lang="en-US"/>
            <a:t>Approach: Combine economic data, technical indicators, and event sentiment</a:t>
          </a:r>
        </a:p>
      </dgm:t>
    </dgm:pt>
    <dgm:pt modelId="{60C9DF9F-943F-418F-8703-706EAE8C58A5}" type="parTrans" cxnId="{A3F38719-5B1F-4574-B146-A8B02B896B66}">
      <dgm:prSet/>
      <dgm:spPr/>
      <dgm:t>
        <a:bodyPr/>
        <a:lstStyle/>
        <a:p>
          <a:endParaRPr lang="en-US"/>
        </a:p>
      </dgm:t>
    </dgm:pt>
    <dgm:pt modelId="{8F54274C-FF07-4812-BCE4-C719018CFB05}" type="sibTrans" cxnId="{A3F38719-5B1F-4574-B146-A8B02B896B66}">
      <dgm:prSet/>
      <dgm:spPr/>
      <dgm:t>
        <a:bodyPr/>
        <a:lstStyle/>
        <a:p>
          <a:endParaRPr lang="en-US"/>
        </a:p>
      </dgm:t>
    </dgm:pt>
    <dgm:pt modelId="{5B5CB31A-D29A-42B5-8C62-46715AA4348D}">
      <dgm:prSet/>
      <dgm:spPr/>
      <dgm:t>
        <a:bodyPr/>
        <a:lstStyle/>
        <a:p>
          <a:r>
            <a:rPr lang="en-US"/>
            <a:t>Key Question: Can diverse data sources improve short-term predictions?</a:t>
          </a:r>
        </a:p>
      </dgm:t>
    </dgm:pt>
    <dgm:pt modelId="{EE5FB6FD-0F82-48F7-A8E9-C186F3E38FE5}" type="parTrans" cxnId="{57696E06-E394-47CF-BA4A-C7931355392A}">
      <dgm:prSet/>
      <dgm:spPr/>
      <dgm:t>
        <a:bodyPr/>
        <a:lstStyle/>
        <a:p>
          <a:endParaRPr lang="en-US"/>
        </a:p>
      </dgm:t>
    </dgm:pt>
    <dgm:pt modelId="{60435675-9A3A-4353-B0B2-5091230327F2}" type="sibTrans" cxnId="{57696E06-E394-47CF-BA4A-C7931355392A}">
      <dgm:prSet/>
      <dgm:spPr/>
      <dgm:t>
        <a:bodyPr/>
        <a:lstStyle/>
        <a:p>
          <a:endParaRPr lang="en-US"/>
        </a:p>
      </dgm:t>
    </dgm:pt>
    <dgm:pt modelId="{EDB1E854-2FC2-7743-AEC2-EE928936ABF6}" type="pres">
      <dgm:prSet presAssocID="{6D2373E2-0915-48E6-9D61-B2450581A230}" presName="diagram" presStyleCnt="0">
        <dgm:presLayoutVars>
          <dgm:dir/>
          <dgm:resizeHandles val="exact"/>
        </dgm:presLayoutVars>
      </dgm:prSet>
      <dgm:spPr/>
    </dgm:pt>
    <dgm:pt modelId="{3880F31B-DA78-284F-944E-D696B9AC2E29}" type="pres">
      <dgm:prSet presAssocID="{29C75116-EA46-4A79-9685-BD1C0C9B282D}" presName="node" presStyleLbl="node1" presStyleIdx="0" presStyleCnt="4">
        <dgm:presLayoutVars>
          <dgm:bulletEnabled val="1"/>
        </dgm:presLayoutVars>
      </dgm:prSet>
      <dgm:spPr/>
    </dgm:pt>
    <dgm:pt modelId="{6D082C53-BE78-F54C-8997-802C49EA7A51}" type="pres">
      <dgm:prSet presAssocID="{BC0968B7-23F8-4B85-A207-B1272DA69E20}" presName="sibTrans" presStyleCnt="0"/>
      <dgm:spPr/>
    </dgm:pt>
    <dgm:pt modelId="{64D4E754-FC07-9D45-B7B4-3248A76D6506}" type="pres">
      <dgm:prSet presAssocID="{E4E2D0E0-C609-48C0-B6AB-EF2E44A50522}" presName="node" presStyleLbl="node1" presStyleIdx="1" presStyleCnt="4">
        <dgm:presLayoutVars>
          <dgm:bulletEnabled val="1"/>
        </dgm:presLayoutVars>
      </dgm:prSet>
      <dgm:spPr/>
    </dgm:pt>
    <dgm:pt modelId="{9C627AF4-3792-5B4E-BD25-CB0219B33FA6}" type="pres">
      <dgm:prSet presAssocID="{4073B684-7253-4B17-84CD-CE19352F58E5}" presName="sibTrans" presStyleCnt="0"/>
      <dgm:spPr/>
    </dgm:pt>
    <dgm:pt modelId="{40B4C346-5E0F-FB41-8B4B-D7C3A8C64111}" type="pres">
      <dgm:prSet presAssocID="{3417A8D7-B477-4E19-A25D-B9D21695A5A0}" presName="node" presStyleLbl="node1" presStyleIdx="2" presStyleCnt="4">
        <dgm:presLayoutVars>
          <dgm:bulletEnabled val="1"/>
        </dgm:presLayoutVars>
      </dgm:prSet>
      <dgm:spPr/>
    </dgm:pt>
    <dgm:pt modelId="{AB0CF674-2F7B-974C-B85A-F0517F5870C2}" type="pres">
      <dgm:prSet presAssocID="{8F54274C-FF07-4812-BCE4-C719018CFB05}" presName="sibTrans" presStyleCnt="0"/>
      <dgm:spPr/>
    </dgm:pt>
    <dgm:pt modelId="{0324F3B1-3FA5-1F41-996D-400764E4314B}" type="pres">
      <dgm:prSet presAssocID="{5B5CB31A-D29A-42B5-8C62-46715AA4348D}" presName="node" presStyleLbl="node1" presStyleIdx="3" presStyleCnt="4">
        <dgm:presLayoutVars>
          <dgm:bulletEnabled val="1"/>
        </dgm:presLayoutVars>
      </dgm:prSet>
      <dgm:spPr/>
    </dgm:pt>
  </dgm:ptLst>
  <dgm:cxnLst>
    <dgm:cxn modelId="{57696E06-E394-47CF-BA4A-C7931355392A}" srcId="{6D2373E2-0915-48E6-9D61-B2450581A230}" destId="{5B5CB31A-D29A-42B5-8C62-46715AA4348D}" srcOrd="3" destOrd="0" parTransId="{EE5FB6FD-0F82-48F7-A8E9-C186F3E38FE5}" sibTransId="{60435675-9A3A-4353-B0B2-5091230327F2}"/>
    <dgm:cxn modelId="{A3F38719-5B1F-4574-B146-A8B02B896B66}" srcId="{6D2373E2-0915-48E6-9D61-B2450581A230}" destId="{3417A8D7-B477-4E19-A25D-B9D21695A5A0}" srcOrd="2" destOrd="0" parTransId="{60C9DF9F-943F-418F-8703-706EAE8C58A5}" sibTransId="{8F54274C-FF07-4812-BCE4-C719018CFB05}"/>
    <dgm:cxn modelId="{D76AF234-4153-5C4C-B7F8-867643366F8F}" type="presOf" srcId="{E4E2D0E0-C609-48C0-B6AB-EF2E44A50522}" destId="{64D4E754-FC07-9D45-B7B4-3248A76D6506}" srcOrd="0" destOrd="0" presId="urn:microsoft.com/office/officeart/2005/8/layout/default"/>
    <dgm:cxn modelId="{3680AD3E-B203-40D2-8869-E94C7523CBB6}" srcId="{6D2373E2-0915-48E6-9D61-B2450581A230}" destId="{29C75116-EA46-4A79-9685-BD1C0C9B282D}" srcOrd="0" destOrd="0" parTransId="{19DDB263-ADD6-41FF-977F-DDA67F2EFB7C}" sibTransId="{BC0968B7-23F8-4B85-A207-B1272DA69E20}"/>
    <dgm:cxn modelId="{D864FB5B-2FF5-5C42-A66B-7E3F282CBAC8}" type="presOf" srcId="{3417A8D7-B477-4E19-A25D-B9D21695A5A0}" destId="{40B4C346-5E0F-FB41-8B4B-D7C3A8C64111}" srcOrd="0" destOrd="0" presId="urn:microsoft.com/office/officeart/2005/8/layout/default"/>
    <dgm:cxn modelId="{B76C3898-4E79-C84C-8CA6-61812BF5CE6F}" type="presOf" srcId="{29C75116-EA46-4A79-9685-BD1C0C9B282D}" destId="{3880F31B-DA78-284F-944E-D696B9AC2E29}" srcOrd="0" destOrd="0" presId="urn:microsoft.com/office/officeart/2005/8/layout/default"/>
    <dgm:cxn modelId="{9CF9FABA-06A3-4462-851A-B7DADAEADAD9}" srcId="{6D2373E2-0915-48E6-9D61-B2450581A230}" destId="{E4E2D0E0-C609-48C0-B6AB-EF2E44A50522}" srcOrd="1" destOrd="0" parTransId="{3F346C22-D31D-41DC-88BE-E2B9AD884330}" sibTransId="{4073B684-7253-4B17-84CD-CE19352F58E5}"/>
    <dgm:cxn modelId="{5F58A5CB-5C94-D24A-BDF8-114071A29084}" type="presOf" srcId="{6D2373E2-0915-48E6-9D61-B2450581A230}" destId="{EDB1E854-2FC2-7743-AEC2-EE928936ABF6}" srcOrd="0" destOrd="0" presId="urn:microsoft.com/office/officeart/2005/8/layout/default"/>
    <dgm:cxn modelId="{9D734CDC-AD8C-D941-B44A-4746242E4B95}" type="presOf" srcId="{5B5CB31A-D29A-42B5-8C62-46715AA4348D}" destId="{0324F3B1-3FA5-1F41-996D-400764E4314B}" srcOrd="0" destOrd="0" presId="urn:microsoft.com/office/officeart/2005/8/layout/default"/>
    <dgm:cxn modelId="{DA763AC6-A6A1-4040-B3A3-0527F1CDF06F}" type="presParOf" srcId="{EDB1E854-2FC2-7743-AEC2-EE928936ABF6}" destId="{3880F31B-DA78-284F-944E-D696B9AC2E29}" srcOrd="0" destOrd="0" presId="urn:microsoft.com/office/officeart/2005/8/layout/default"/>
    <dgm:cxn modelId="{B27CD137-B443-714A-BCF0-AF22AE1D4078}" type="presParOf" srcId="{EDB1E854-2FC2-7743-AEC2-EE928936ABF6}" destId="{6D082C53-BE78-F54C-8997-802C49EA7A51}" srcOrd="1" destOrd="0" presId="urn:microsoft.com/office/officeart/2005/8/layout/default"/>
    <dgm:cxn modelId="{71EDE42E-6C09-3547-963B-56C80D16D546}" type="presParOf" srcId="{EDB1E854-2FC2-7743-AEC2-EE928936ABF6}" destId="{64D4E754-FC07-9D45-B7B4-3248A76D6506}" srcOrd="2" destOrd="0" presId="urn:microsoft.com/office/officeart/2005/8/layout/default"/>
    <dgm:cxn modelId="{D6AB99CF-C88F-284A-8721-0AC37AE1A478}" type="presParOf" srcId="{EDB1E854-2FC2-7743-AEC2-EE928936ABF6}" destId="{9C627AF4-3792-5B4E-BD25-CB0219B33FA6}" srcOrd="3" destOrd="0" presId="urn:microsoft.com/office/officeart/2005/8/layout/default"/>
    <dgm:cxn modelId="{4ECF5EBA-7DFE-F04F-BD7E-C24C3D35A1A9}" type="presParOf" srcId="{EDB1E854-2FC2-7743-AEC2-EE928936ABF6}" destId="{40B4C346-5E0F-FB41-8B4B-D7C3A8C64111}" srcOrd="4" destOrd="0" presId="urn:microsoft.com/office/officeart/2005/8/layout/default"/>
    <dgm:cxn modelId="{60CA0BC0-3995-C74A-9FA4-C1389A27B4FA}" type="presParOf" srcId="{EDB1E854-2FC2-7743-AEC2-EE928936ABF6}" destId="{AB0CF674-2F7B-974C-B85A-F0517F5870C2}" srcOrd="5" destOrd="0" presId="urn:microsoft.com/office/officeart/2005/8/layout/default"/>
    <dgm:cxn modelId="{46429411-49EE-4446-9257-F163AF0167D5}" type="presParOf" srcId="{EDB1E854-2FC2-7743-AEC2-EE928936ABF6}" destId="{0324F3B1-3FA5-1F41-996D-400764E4314B}" srcOrd="6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489FDDD-84A3-48B2-AE43-2C485E63A62C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FF274799-EB34-4193-A08F-0B03683E927E}">
      <dgm:prSet/>
      <dgm:spPr/>
      <dgm:t>
        <a:bodyPr/>
        <a:lstStyle/>
        <a:p>
          <a:r>
            <a:rPr lang="en-US"/>
            <a:t>Models: Random Forest and XGBoost</a:t>
          </a:r>
        </a:p>
      </dgm:t>
    </dgm:pt>
    <dgm:pt modelId="{D48706ED-CD75-460D-995F-DB97697D3695}" type="parTrans" cxnId="{0CAD6DF4-FCE3-4128-93B1-BF1AE1739979}">
      <dgm:prSet/>
      <dgm:spPr/>
      <dgm:t>
        <a:bodyPr/>
        <a:lstStyle/>
        <a:p>
          <a:endParaRPr lang="en-US"/>
        </a:p>
      </dgm:t>
    </dgm:pt>
    <dgm:pt modelId="{7A4B41CC-B322-4B8B-B99B-FAF69971D593}" type="sibTrans" cxnId="{0CAD6DF4-FCE3-4128-93B1-BF1AE1739979}">
      <dgm:prSet/>
      <dgm:spPr/>
      <dgm:t>
        <a:bodyPr/>
        <a:lstStyle/>
        <a:p>
          <a:endParaRPr lang="en-US"/>
        </a:p>
      </dgm:t>
    </dgm:pt>
    <dgm:pt modelId="{F4B35415-CBA3-4A52-9B1C-3880326BFD39}">
      <dgm:prSet/>
      <dgm:spPr/>
      <dgm:t>
        <a:bodyPr/>
        <a:lstStyle/>
        <a:p>
          <a:r>
            <a:rPr lang="en-US"/>
            <a:t>Split: Training (2020–2023), Testing (2024)</a:t>
          </a:r>
        </a:p>
      </dgm:t>
    </dgm:pt>
    <dgm:pt modelId="{C06CFAD3-EE78-4857-91C9-ECFDDAFB8CE6}" type="parTrans" cxnId="{6954156C-F186-4968-AA76-7C255CB3CFBB}">
      <dgm:prSet/>
      <dgm:spPr/>
      <dgm:t>
        <a:bodyPr/>
        <a:lstStyle/>
        <a:p>
          <a:endParaRPr lang="en-US"/>
        </a:p>
      </dgm:t>
    </dgm:pt>
    <dgm:pt modelId="{A7D5BB10-3673-4E09-B9CC-2E91619C5EA3}" type="sibTrans" cxnId="{6954156C-F186-4968-AA76-7C255CB3CFBB}">
      <dgm:prSet/>
      <dgm:spPr/>
      <dgm:t>
        <a:bodyPr/>
        <a:lstStyle/>
        <a:p>
          <a:endParaRPr lang="en-US"/>
        </a:p>
      </dgm:t>
    </dgm:pt>
    <dgm:pt modelId="{3D1175A5-EDF8-4D81-AEE9-033DF19C84D3}">
      <dgm:prSet/>
      <dgm:spPr/>
      <dgm:t>
        <a:bodyPr/>
        <a:lstStyle/>
        <a:p>
          <a:r>
            <a:rPr lang="en-US"/>
            <a:t>Normalized features using MinMaxScaler</a:t>
          </a:r>
        </a:p>
      </dgm:t>
    </dgm:pt>
    <dgm:pt modelId="{07F1F6BE-968F-424B-BFA0-F5DE080E060D}" type="parTrans" cxnId="{D4673DDE-CEA9-4C29-B2E0-65D48D1F4AD9}">
      <dgm:prSet/>
      <dgm:spPr/>
      <dgm:t>
        <a:bodyPr/>
        <a:lstStyle/>
        <a:p>
          <a:endParaRPr lang="en-US"/>
        </a:p>
      </dgm:t>
    </dgm:pt>
    <dgm:pt modelId="{3D910228-E41E-4BED-9680-B9C540A05255}" type="sibTrans" cxnId="{D4673DDE-CEA9-4C29-B2E0-65D48D1F4AD9}">
      <dgm:prSet/>
      <dgm:spPr/>
      <dgm:t>
        <a:bodyPr/>
        <a:lstStyle/>
        <a:p>
          <a:endParaRPr lang="en-US"/>
        </a:p>
      </dgm:t>
    </dgm:pt>
    <dgm:pt modelId="{7C0371D8-FB23-4234-B4D3-5D44D77BE445}">
      <dgm:prSet/>
      <dgm:spPr/>
      <dgm:t>
        <a:bodyPr/>
        <a:lstStyle/>
        <a:p>
          <a:r>
            <a:rPr lang="en-US"/>
            <a:t>Hyperparameter tuning via GridSearchCV (F1-score)</a:t>
          </a:r>
        </a:p>
      </dgm:t>
    </dgm:pt>
    <dgm:pt modelId="{3C642E04-B63E-4255-B7DE-1CF41F8AF590}" type="parTrans" cxnId="{05B1CEF1-C0D7-47EF-A652-F3860ABF5F64}">
      <dgm:prSet/>
      <dgm:spPr/>
      <dgm:t>
        <a:bodyPr/>
        <a:lstStyle/>
        <a:p>
          <a:endParaRPr lang="en-US"/>
        </a:p>
      </dgm:t>
    </dgm:pt>
    <dgm:pt modelId="{5F22E11C-287F-4E5F-AEA7-5A7724734E10}" type="sibTrans" cxnId="{05B1CEF1-C0D7-47EF-A652-F3860ABF5F64}">
      <dgm:prSet/>
      <dgm:spPr/>
      <dgm:t>
        <a:bodyPr/>
        <a:lstStyle/>
        <a:p>
          <a:endParaRPr lang="en-US"/>
        </a:p>
      </dgm:t>
    </dgm:pt>
    <dgm:pt modelId="{F8653952-29E9-456E-957D-E8EC0E5F9AAE}" type="pres">
      <dgm:prSet presAssocID="{8489FDDD-84A3-48B2-AE43-2C485E63A62C}" presName="root" presStyleCnt="0">
        <dgm:presLayoutVars>
          <dgm:dir/>
          <dgm:resizeHandles val="exact"/>
        </dgm:presLayoutVars>
      </dgm:prSet>
      <dgm:spPr/>
    </dgm:pt>
    <dgm:pt modelId="{C9273695-6B92-4985-89D0-3DA3FD551700}" type="pres">
      <dgm:prSet presAssocID="{8489FDDD-84A3-48B2-AE43-2C485E63A62C}" presName="container" presStyleCnt="0">
        <dgm:presLayoutVars>
          <dgm:dir/>
          <dgm:resizeHandles val="exact"/>
        </dgm:presLayoutVars>
      </dgm:prSet>
      <dgm:spPr/>
    </dgm:pt>
    <dgm:pt modelId="{D4312B98-43CE-44EC-A328-FDCF51702FD4}" type="pres">
      <dgm:prSet presAssocID="{FF274799-EB34-4193-A08F-0B03683E927E}" presName="compNode" presStyleCnt="0"/>
      <dgm:spPr/>
    </dgm:pt>
    <dgm:pt modelId="{3C1C41EA-B939-4BD9-A251-3BAF164B9C1E}" type="pres">
      <dgm:prSet presAssocID="{FF274799-EB34-4193-A08F-0B03683E927E}" presName="iconBgRect" presStyleLbl="bgShp" presStyleIdx="0" presStyleCnt="4"/>
      <dgm:spPr/>
    </dgm:pt>
    <dgm:pt modelId="{C194A041-AADA-46D4-85CC-CDFB7C24DBE7}" type="pres">
      <dgm:prSet presAssocID="{FF274799-EB34-4193-A08F-0B03683E927E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est scene"/>
        </a:ext>
      </dgm:extLst>
    </dgm:pt>
    <dgm:pt modelId="{AC8744EF-CAD3-4612-B6A7-F44ADADE394D}" type="pres">
      <dgm:prSet presAssocID="{FF274799-EB34-4193-A08F-0B03683E927E}" presName="spaceRect" presStyleCnt="0"/>
      <dgm:spPr/>
    </dgm:pt>
    <dgm:pt modelId="{11E1EDD5-9F0B-4CD3-90D8-C7514C3330A1}" type="pres">
      <dgm:prSet presAssocID="{FF274799-EB34-4193-A08F-0B03683E927E}" presName="textRect" presStyleLbl="revTx" presStyleIdx="0" presStyleCnt="4">
        <dgm:presLayoutVars>
          <dgm:chMax val="1"/>
          <dgm:chPref val="1"/>
        </dgm:presLayoutVars>
      </dgm:prSet>
      <dgm:spPr/>
    </dgm:pt>
    <dgm:pt modelId="{6F958055-A4A9-406B-B214-F17138FECF94}" type="pres">
      <dgm:prSet presAssocID="{7A4B41CC-B322-4B8B-B99B-FAF69971D593}" presName="sibTrans" presStyleLbl="sibTrans2D1" presStyleIdx="0" presStyleCnt="0"/>
      <dgm:spPr/>
    </dgm:pt>
    <dgm:pt modelId="{0A687F6A-F8F5-4639-8B5A-4E07AF8D252C}" type="pres">
      <dgm:prSet presAssocID="{F4B35415-CBA3-4A52-9B1C-3880326BFD39}" presName="compNode" presStyleCnt="0"/>
      <dgm:spPr/>
    </dgm:pt>
    <dgm:pt modelId="{3967469E-6A2A-47A0-A7A1-B03D2F8ED444}" type="pres">
      <dgm:prSet presAssocID="{F4B35415-CBA3-4A52-9B1C-3880326BFD39}" presName="iconBgRect" presStyleLbl="bgShp" presStyleIdx="1" presStyleCnt="4"/>
      <dgm:spPr/>
    </dgm:pt>
    <dgm:pt modelId="{66DCDDBD-50B1-4288-89D5-C874C4F57084}" type="pres">
      <dgm:prSet presAssocID="{F4B35415-CBA3-4A52-9B1C-3880326BFD39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Atom"/>
        </a:ext>
      </dgm:extLst>
    </dgm:pt>
    <dgm:pt modelId="{63C5E322-AA47-4069-AA9F-67604D3A4BF3}" type="pres">
      <dgm:prSet presAssocID="{F4B35415-CBA3-4A52-9B1C-3880326BFD39}" presName="spaceRect" presStyleCnt="0"/>
      <dgm:spPr/>
    </dgm:pt>
    <dgm:pt modelId="{92AFECBE-E93E-474F-9E18-C24B61EF644A}" type="pres">
      <dgm:prSet presAssocID="{F4B35415-CBA3-4A52-9B1C-3880326BFD39}" presName="textRect" presStyleLbl="revTx" presStyleIdx="1" presStyleCnt="4">
        <dgm:presLayoutVars>
          <dgm:chMax val="1"/>
          <dgm:chPref val="1"/>
        </dgm:presLayoutVars>
      </dgm:prSet>
      <dgm:spPr/>
    </dgm:pt>
    <dgm:pt modelId="{BFB65E6F-5E84-4655-AD2E-C8478B4E67BB}" type="pres">
      <dgm:prSet presAssocID="{A7D5BB10-3673-4E09-B9CC-2E91619C5EA3}" presName="sibTrans" presStyleLbl="sibTrans2D1" presStyleIdx="0" presStyleCnt="0"/>
      <dgm:spPr/>
    </dgm:pt>
    <dgm:pt modelId="{81782957-6820-487D-B0A4-0DE191599A11}" type="pres">
      <dgm:prSet presAssocID="{3D1175A5-EDF8-4D81-AEE9-033DF19C84D3}" presName="compNode" presStyleCnt="0"/>
      <dgm:spPr/>
    </dgm:pt>
    <dgm:pt modelId="{A421EA70-BD4C-4DC3-A8B7-A97099E1AC77}" type="pres">
      <dgm:prSet presAssocID="{3D1175A5-EDF8-4D81-AEE9-033DF19C84D3}" presName="iconBgRect" presStyleLbl="bgShp" presStyleIdx="2" presStyleCnt="4"/>
      <dgm:spPr/>
    </dgm:pt>
    <dgm:pt modelId="{6FAA8312-C3C9-4740-AC28-D90D1AB4E5A0}" type="pres">
      <dgm:prSet presAssocID="{3D1175A5-EDF8-4D81-AEE9-033DF19C84D3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ome"/>
        </a:ext>
      </dgm:extLst>
    </dgm:pt>
    <dgm:pt modelId="{A87B0521-C8C7-44AE-B928-BBA0E820A6C0}" type="pres">
      <dgm:prSet presAssocID="{3D1175A5-EDF8-4D81-AEE9-033DF19C84D3}" presName="spaceRect" presStyleCnt="0"/>
      <dgm:spPr/>
    </dgm:pt>
    <dgm:pt modelId="{48BDC173-5925-4F4D-9B72-E7C338E9CFDC}" type="pres">
      <dgm:prSet presAssocID="{3D1175A5-EDF8-4D81-AEE9-033DF19C84D3}" presName="textRect" presStyleLbl="revTx" presStyleIdx="2" presStyleCnt="4">
        <dgm:presLayoutVars>
          <dgm:chMax val="1"/>
          <dgm:chPref val="1"/>
        </dgm:presLayoutVars>
      </dgm:prSet>
      <dgm:spPr/>
    </dgm:pt>
    <dgm:pt modelId="{BD03B4DB-99EB-4E3A-8788-F3CD737EC6CA}" type="pres">
      <dgm:prSet presAssocID="{3D910228-E41E-4BED-9680-B9C540A05255}" presName="sibTrans" presStyleLbl="sibTrans2D1" presStyleIdx="0" presStyleCnt="0"/>
      <dgm:spPr/>
    </dgm:pt>
    <dgm:pt modelId="{A02051A6-ED91-40E3-BC92-0C6A531B90D0}" type="pres">
      <dgm:prSet presAssocID="{7C0371D8-FB23-4234-B4D3-5D44D77BE445}" presName="compNode" presStyleCnt="0"/>
      <dgm:spPr/>
    </dgm:pt>
    <dgm:pt modelId="{C71A34B3-E843-47CC-ACF2-685FA512BE1C}" type="pres">
      <dgm:prSet presAssocID="{7C0371D8-FB23-4234-B4D3-5D44D77BE445}" presName="iconBgRect" presStyleLbl="bgShp" presStyleIdx="3" presStyleCnt="4"/>
      <dgm:spPr/>
    </dgm:pt>
    <dgm:pt modelId="{62B1A743-3417-463A-8626-FEF64BFFBD60}" type="pres">
      <dgm:prSet presAssocID="{7C0371D8-FB23-4234-B4D3-5D44D77BE445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2908ACF4-3E02-416C-9CFD-77BC9B332FF2}" type="pres">
      <dgm:prSet presAssocID="{7C0371D8-FB23-4234-B4D3-5D44D77BE445}" presName="spaceRect" presStyleCnt="0"/>
      <dgm:spPr/>
    </dgm:pt>
    <dgm:pt modelId="{FE6926A6-675A-4180-87CE-CE7C395CAA03}" type="pres">
      <dgm:prSet presAssocID="{7C0371D8-FB23-4234-B4D3-5D44D77BE445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C09B2207-B49E-4C6A-8D56-DDAD14796FB2}" type="presOf" srcId="{7C0371D8-FB23-4234-B4D3-5D44D77BE445}" destId="{FE6926A6-675A-4180-87CE-CE7C395CAA03}" srcOrd="0" destOrd="0" presId="urn:microsoft.com/office/officeart/2018/2/layout/IconCircleList"/>
    <dgm:cxn modelId="{35FA670F-BD6A-4468-AD5F-B4D43F3CD95C}" type="presOf" srcId="{FF274799-EB34-4193-A08F-0B03683E927E}" destId="{11E1EDD5-9F0B-4CD3-90D8-C7514C3330A1}" srcOrd="0" destOrd="0" presId="urn:microsoft.com/office/officeart/2018/2/layout/IconCircleList"/>
    <dgm:cxn modelId="{75A28E2A-078B-476D-9872-E5046C5F4522}" type="presOf" srcId="{3D1175A5-EDF8-4D81-AEE9-033DF19C84D3}" destId="{48BDC173-5925-4F4D-9B72-E7C338E9CFDC}" srcOrd="0" destOrd="0" presId="urn:microsoft.com/office/officeart/2018/2/layout/IconCircleList"/>
    <dgm:cxn modelId="{D3353261-D804-495A-8309-63EF5EABB4C2}" type="presOf" srcId="{8489FDDD-84A3-48B2-AE43-2C485E63A62C}" destId="{F8653952-29E9-456E-957D-E8EC0E5F9AAE}" srcOrd="0" destOrd="0" presId="urn:microsoft.com/office/officeart/2018/2/layout/IconCircleList"/>
    <dgm:cxn modelId="{76EC1265-DA92-4917-8D38-C8F8D08CA84A}" type="presOf" srcId="{7A4B41CC-B322-4B8B-B99B-FAF69971D593}" destId="{6F958055-A4A9-406B-B214-F17138FECF94}" srcOrd="0" destOrd="0" presId="urn:microsoft.com/office/officeart/2018/2/layout/IconCircleList"/>
    <dgm:cxn modelId="{6954156C-F186-4968-AA76-7C255CB3CFBB}" srcId="{8489FDDD-84A3-48B2-AE43-2C485E63A62C}" destId="{F4B35415-CBA3-4A52-9B1C-3880326BFD39}" srcOrd="1" destOrd="0" parTransId="{C06CFAD3-EE78-4857-91C9-ECFDDAFB8CE6}" sibTransId="{A7D5BB10-3673-4E09-B9CC-2E91619C5EA3}"/>
    <dgm:cxn modelId="{8EA108C0-23DD-4AA2-882C-5D56A04C267F}" type="presOf" srcId="{F4B35415-CBA3-4A52-9B1C-3880326BFD39}" destId="{92AFECBE-E93E-474F-9E18-C24B61EF644A}" srcOrd="0" destOrd="0" presId="urn:microsoft.com/office/officeart/2018/2/layout/IconCircleList"/>
    <dgm:cxn modelId="{D5950CD6-1CA3-4FDC-9492-8EDD432289D9}" type="presOf" srcId="{3D910228-E41E-4BED-9680-B9C540A05255}" destId="{BD03B4DB-99EB-4E3A-8788-F3CD737EC6CA}" srcOrd="0" destOrd="0" presId="urn:microsoft.com/office/officeart/2018/2/layout/IconCircleList"/>
    <dgm:cxn modelId="{D4673DDE-CEA9-4C29-B2E0-65D48D1F4AD9}" srcId="{8489FDDD-84A3-48B2-AE43-2C485E63A62C}" destId="{3D1175A5-EDF8-4D81-AEE9-033DF19C84D3}" srcOrd="2" destOrd="0" parTransId="{07F1F6BE-968F-424B-BFA0-F5DE080E060D}" sibTransId="{3D910228-E41E-4BED-9680-B9C540A05255}"/>
    <dgm:cxn modelId="{05B1CEF1-C0D7-47EF-A652-F3860ABF5F64}" srcId="{8489FDDD-84A3-48B2-AE43-2C485E63A62C}" destId="{7C0371D8-FB23-4234-B4D3-5D44D77BE445}" srcOrd="3" destOrd="0" parTransId="{3C642E04-B63E-4255-B7DE-1CF41F8AF590}" sibTransId="{5F22E11C-287F-4E5F-AEA7-5A7724734E10}"/>
    <dgm:cxn modelId="{0CAD6DF4-FCE3-4128-93B1-BF1AE1739979}" srcId="{8489FDDD-84A3-48B2-AE43-2C485E63A62C}" destId="{FF274799-EB34-4193-A08F-0B03683E927E}" srcOrd="0" destOrd="0" parTransId="{D48706ED-CD75-460D-995F-DB97697D3695}" sibTransId="{7A4B41CC-B322-4B8B-B99B-FAF69971D593}"/>
    <dgm:cxn modelId="{F5C567F7-C423-4AD2-96D8-328FF961A8A6}" type="presOf" srcId="{A7D5BB10-3673-4E09-B9CC-2E91619C5EA3}" destId="{BFB65E6F-5E84-4655-AD2E-C8478B4E67BB}" srcOrd="0" destOrd="0" presId="urn:microsoft.com/office/officeart/2018/2/layout/IconCircleList"/>
    <dgm:cxn modelId="{F4AD0435-C89C-4D04-88F2-45533F3210EC}" type="presParOf" srcId="{F8653952-29E9-456E-957D-E8EC0E5F9AAE}" destId="{C9273695-6B92-4985-89D0-3DA3FD551700}" srcOrd="0" destOrd="0" presId="urn:microsoft.com/office/officeart/2018/2/layout/IconCircleList"/>
    <dgm:cxn modelId="{9EB8DE68-8329-4B0D-9899-8B3AB782A3BB}" type="presParOf" srcId="{C9273695-6B92-4985-89D0-3DA3FD551700}" destId="{D4312B98-43CE-44EC-A328-FDCF51702FD4}" srcOrd="0" destOrd="0" presId="urn:microsoft.com/office/officeart/2018/2/layout/IconCircleList"/>
    <dgm:cxn modelId="{D58D8FB8-5793-4EA6-BC07-2A1B6B3F3A59}" type="presParOf" srcId="{D4312B98-43CE-44EC-A328-FDCF51702FD4}" destId="{3C1C41EA-B939-4BD9-A251-3BAF164B9C1E}" srcOrd="0" destOrd="0" presId="urn:microsoft.com/office/officeart/2018/2/layout/IconCircleList"/>
    <dgm:cxn modelId="{E381D5AC-238C-47D4-83F9-8A2698C53B31}" type="presParOf" srcId="{D4312B98-43CE-44EC-A328-FDCF51702FD4}" destId="{C194A041-AADA-46D4-85CC-CDFB7C24DBE7}" srcOrd="1" destOrd="0" presId="urn:microsoft.com/office/officeart/2018/2/layout/IconCircleList"/>
    <dgm:cxn modelId="{3F1C8F89-E942-436B-BFC8-0C75E8B385CB}" type="presParOf" srcId="{D4312B98-43CE-44EC-A328-FDCF51702FD4}" destId="{AC8744EF-CAD3-4612-B6A7-F44ADADE394D}" srcOrd="2" destOrd="0" presId="urn:microsoft.com/office/officeart/2018/2/layout/IconCircleList"/>
    <dgm:cxn modelId="{E2413BB7-D987-42D4-84FB-2E3141376577}" type="presParOf" srcId="{D4312B98-43CE-44EC-A328-FDCF51702FD4}" destId="{11E1EDD5-9F0B-4CD3-90D8-C7514C3330A1}" srcOrd="3" destOrd="0" presId="urn:microsoft.com/office/officeart/2018/2/layout/IconCircleList"/>
    <dgm:cxn modelId="{CFCCD08D-0941-43C0-B86C-08FDCA9D2206}" type="presParOf" srcId="{C9273695-6B92-4985-89D0-3DA3FD551700}" destId="{6F958055-A4A9-406B-B214-F17138FECF94}" srcOrd="1" destOrd="0" presId="urn:microsoft.com/office/officeart/2018/2/layout/IconCircleList"/>
    <dgm:cxn modelId="{CB17D4DD-BE01-40C5-9007-FC1C4B14485A}" type="presParOf" srcId="{C9273695-6B92-4985-89D0-3DA3FD551700}" destId="{0A687F6A-F8F5-4639-8B5A-4E07AF8D252C}" srcOrd="2" destOrd="0" presId="urn:microsoft.com/office/officeart/2018/2/layout/IconCircleList"/>
    <dgm:cxn modelId="{C16FF2B0-D982-4D6B-874D-B4633CA88839}" type="presParOf" srcId="{0A687F6A-F8F5-4639-8B5A-4E07AF8D252C}" destId="{3967469E-6A2A-47A0-A7A1-B03D2F8ED444}" srcOrd="0" destOrd="0" presId="urn:microsoft.com/office/officeart/2018/2/layout/IconCircleList"/>
    <dgm:cxn modelId="{03B3EEF5-E99A-4A21-A95A-FB0BE0E569E0}" type="presParOf" srcId="{0A687F6A-F8F5-4639-8B5A-4E07AF8D252C}" destId="{66DCDDBD-50B1-4288-89D5-C874C4F57084}" srcOrd="1" destOrd="0" presId="urn:microsoft.com/office/officeart/2018/2/layout/IconCircleList"/>
    <dgm:cxn modelId="{19A79DE9-A76F-478C-8A3A-85CCD4E0F4D4}" type="presParOf" srcId="{0A687F6A-F8F5-4639-8B5A-4E07AF8D252C}" destId="{63C5E322-AA47-4069-AA9F-67604D3A4BF3}" srcOrd="2" destOrd="0" presId="urn:microsoft.com/office/officeart/2018/2/layout/IconCircleList"/>
    <dgm:cxn modelId="{F11549CF-BE86-40CA-BA3E-C7C9C5DC31E5}" type="presParOf" srcId="{0A687F6A-F8F5-4639-8B5A-4E07AF8D252C}" destId="{92AFECBE-E93E-474F-9E18-C24B61EF644A}" srcOrd="3" destOrd="0" presId="urn:microsoft.com/office/officeart/2018/2/layout/IconCircleList"/>
    <dgm:cxn modelId="{FAE651F8-5A27-4898-AE10-64B906D317CA}" type="presParOf" srcId="{C9273695-6B92-4985-89D0-3DA3FD551700}" destId="{BFB65E6F-5E84-4655-AD2E-C8478B4E67BB}" srcOrd="3" destOrd="0" presId="urn:microsoft.com/office/officeart/2018/2/layout/IconCircleList"/>
    <dgm:cxn modelId="{F920DFBD-A22D-4FFF-8207-E4038370BA80}" type="presParOf" srcId="{C9273695-6B92-4985-89D0-3DA3FD551700}" destId="{81782957-6820-487D-B0A4-0DE191599A11}" srcOrd="4" destOrd="0" presId="urn:microsoft.com/office/officeart/2018/2/layout/IconCircleList"/>
    <dgm:cxn modelId="{E6335442-8797-4BB3-9B14-368AB85FCB62}" type="presParOf" srcId="{81782957-6820-487D-B0A4-0DE191599A11}" destId="{A421EA70-BD4C-4DC3-A8B7-A97099E1AC77}" srcOrd="0" destOrd="0" presId="urn:microsoft.com/office/officeart/2018/2/layout/IconCircleList"/>
    <dgm:cxn modelId="{CEEBB62B-6EE4-4CD7-A1CA-251F6319C022}" type="presParOf" srcId="{81782957-6820-487D-B0A4-0DE191599A11}" destId="{6FAA8312-C3C9-4740-AC28-D90D1AB4E5A0}" srcOrd="1" destOrd="0" presId="urn:microsoft.com/office/officeart/2018/2/layout/IconCircleList"/>
    <dgm:cxn modelId="{C4525A61-3226-4F45-B146-29DB5DC564CA}" type="presParOf" srcId="{81782957-6820-487D-B0A4-0DE191599A11}" destId="{A87B0521-C8C7-44AE-B928-BBA0E820A6C0}" srcOrd="2" destOrd="0" presId="urn:microsoft.com/office/officeart/2018/2/layout/IconCircleList"/>
    <dgm:cxn modelId="{338EEB31-8187-4658-ADBB-8D33E5A4D9B2}" type="presParOf" srcId="{81782957-6820-487D-B0A4-0DE191599A11}" destId="{48BDC173-5925-4F4D-9B72-E7C338E9CFDC}" srcOrd="3" destOrd="0" presId="urn:microsoft.com/office/officeart/2018/2/layout/IconCircleList"/>
    <dgm:cxn modelId="{7722660D-A9DB-42B8-9207-8F92B45EA68D}" type="presParOf" srcId="{C9273695-6B92-4985-89D0-3DA3FD551700}" destId="{BD03B4DB-99EB-4E3A-8788-F3CD737EC6CA}" srcOrd="5" destOrd="0" presId="urn:microsoft.com/office/officeart/2018/2/layout/IconCircleList"/>
    <dgm:cxn modelId="{A8C2D3FF-3F81-4AF6-B8DE-9B04DE4B00CD}" type="presParOf" srcId="{C9273695-6B92-4985-89D0-3DA3FD551700}" destId="{A02051A6-ED91-40E3-BC92-0C6A531B90D0}" srcOrd="6" destOrd="0" presId="urn:microsoft.com/office/officeart/2018/2/layout/IconCircleList"/>
    <dgm:cxn modelId="{99950493-F097-4128-A627-10F931694C0B}" type="presParOf" srcId="{A02051A6-ED91-40E3-BC92-0C6A531B90D0}" destId="{C71A34B3-E843-47CC-ACF2-685FA512BE1C}" srcOrd="0" destOrd="0" presId="urn:microsoft.com/office/officeart/2018/2/layout/IconCircleList"/>
    <dgm:cxn modelId="{F694E64B-5E38-4616-8CB2-5EC2772C953D}" type="presParOf" srcId="{A02051A6-ED91-40E3-BC92-0C6A531B90D0}" destId="{62B1A743-3417-463A-8626-FEF64BFFBD60}" srcOrd="1" destOrd="0" presId="urn:microsoft.com/office/officeart/2018/2/layout/IconCircleList"/>
    <dgm:cxn modelId="{16751F14-13A2-448B-A351-5D8F9299A85E}" type="presParOf" srcId="{A02051A6-ED91-40E3-BC92-0C6A531B90D0}" destId="{2908ACF4-3E02-416C-9CFD-77BC9B332FF2}" srcOrd="2" destOrd="0" presId="urn:microsoft.com/office/officeart/2018/2/layout/IconCircleList"/>
    <dgm:cxn modelId="{57C5D592-03D4-4DF5-9917-44C72A7EE902}" type="presParOf" srcId="{A02051A6-ED91-40E3-BC92-0C6A531B90D0}" destId="{FE6926A6-675A-4180-87CE-CE7C395CAA03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80F31B-DA78-284F-944E-D696B9AC2E29}">
      <dsp:nvSpPr>
        <dsp:cNvPr id="0" name=""/>
        <dsp:cNvSpPr/>
      </dsp:nvSpPr>
      <dsp:spPr>
        <a:xfrm>
          <a:off x="930572" y="3032"/>
          <a:ext cx="2833338" cy="1700003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Objective: Predict daily buy/sell signals for SPY ETF</a:t>
          </a:r>
        </a:p>
      </dsp:txBody>
      <dsp:txXfrm>
        <a:off x="930572" y="3032"/>
        <a:ext cx="2833338" cy="1700003"/>
      </dsp:txXfrm>
    </dsp:sp>
    <dsp:sp modelId="{64D4E754-FC07-9D45-B7B4-3248A76D6506}">
      <dsp:nvSpPr>
        <dsp:cNvPr id="0" name=""/>
        <dsp:cNvSpPr/>
      </dsp:nvSpPr>
      <dsp:spPr>
        <a:xfrm>
          <a:off x="4047245" y="3032"/>
          <a:ext cx="2833338" cy="1700003"/>
        </a:xfrm>
        <a:prstGeom prst="rect">
          <a:avLst/>
        </a:prstGeom>
        <a:solidFill>
          <a:schemeClr val="accent2">
            <a:hueOff val="2147871"/>
            <a:satOff val="-6164"/>
            <a:lumOff val="-987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Why? Stock market prediction is challenging but valuable</a:t>
          </a:r>
        </a:p>
      </dsp:txBody>
      <dsp:txXfrm>
        <a:off x="4047245" y="3032"/>
        <a:ext cx="2833338" cy="1700003"/>
      </dsp:txXfrm>
    </dsp:sp>
    <dsp:sp modelId="{40B4C346-5E0F-FB41-8B4B-D7C3A8C64111}">
      <dsp:nvSpPr>
        <dsp:cNvPr id="0" name=""/>
        <dsp:cNvSpPr/>
      </dsp:nvSpPr>
      <dsp:spPr>
        <a:xfrm>
          <a:off x="7163917" y="3032"/>
          <a:ext cx="2833338" cy="1700003"/>
        </a:xfrm>
        <a:prstGeom prst="rect">
          <a:avLst/>
        </a:prstGeom>
        <a:solidFill>
          <a:schemeClr val="accent2">
            <a:hueOff val="4295742"/>
            <a:satOff val="-12329"/>
            <a:lumOff val="-1973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Approach: Combine economic data, technical indicators, and event sentiment</a:t>
          </a:r>
        </a:p>
      </dsp:txBody>
      <dsp:txXfrm>
        <a:off x="7163917" y="3032"/>
        <a:ext cx="2833338" cy="1700003"/>
      </dsp:txXfrm>
    </dsp:sp>
    <dsp:sp modelId="{0324F3B1-3FA5-1F41-996D-400764E4314B}">
      <dsp:nvSpPr>
        <dsp:cNvPr id="0" name=""/>
        <dsp:cNvSpPr/>
      </dsp:nvSpPr>
      <dsp:spPr>
        <a:xfrm>
          <a:off x="4047245" y="1986369"/>
          <a:ext cx="2833338" cy="1700003"/>
        </a:xfrm>
        <a:prstGeom prst="rect">
          <a:avLst/>
        </a:prstGeom>
        <a:solidFill>
          <a:schemeClr val="accent2">
            <a:hueOff val="6443612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Key Question: Can diverse data sources improve short-term predictions?</a:t>
          </a:r>
        </a:p>
      </dsp:txBody>
      <dsp:txXfrm>
        <a:off x="4047245" y="1986369"/>
        <a:ext cx="2833338" cy="1700003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C1C41EA-B939-4BD9-A251-3BAF164B9C1E}">
      <dsp:nvSpPr>
        <dsp:cNvPr id="0" name=""/>
        <dsp:cNvSpPr/>
      </dsp:nvSpPr>
      <dsp:spPr>
        <a:xfrm>
          <a:off x="282221" y="159118"/>
          <a:ext cx="1371985" cy="137198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94A041-AADA-46D4-85CC-CDFB7C24DBE7}">
      <dsp:nvSpPr>
        <dsp:cNvPr id="0" name=""/>
        <dsp:cNvSpPr/>
      </dsp:nvSpPr>
      <dsp:spPr>
        <a:xfrm>
          <a:off x="570337" y="447234"/>
          <a:ext cx="795751" cy="795751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1E1EDD5-9F0B-4CD3-90D8-C7514C3330A1}">
      <dsp:nvSpPr>
        <dsp:cNvPr id="0" name=""/>
        <dsp:cNvSpPr/>
      </dsp:nvSpPr>
      <dsp:spPr>
        <a:xfrm>
          <a:off x="1948202" y="159118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Models: Random Forest and XGBoost</a:t>
          </a:r>
        </a:p>
      </dsp:txBody>
      <dsp:txXfrm>
        <a:off x="1948202" y="159118"/>
        <a:ext cx="3233964" cy="1371985"/>
      </dsp:txXfrm>
    </dsp:sp>
    <dsp:sp modelId="{3967469E-6A2A-47A0-A7A1-B03D2F8ED444}">
      <dsp:nvSpPr>
        <dsp:cNvPr id="0" name=""/>
        <dsp:cNvSpPr/>
      </dsp:nvSpPr>
      <dsp:spPr>
        <a:xfrm>
          <a:off x="5745661" y="159118"/>
          <a:ext cx="1371985" cy="1371985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6DCDDBD-50B1-4288-89D5-C874C4F57084}">
      <dsp:nvSpPr>
        <dsp:cNvPr id="0" name=""/>
        <dsp:cNvSpPr/>
      </dsp:nvSpPr>
      <dsp:spPr>
        <a:xfrm>
          <a:off x="6033778" y="447234"/>
          <a:ext cx="795751" cy="795751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AFECBE-E93E-474F-9E18-C24B61EF644A}">
      <dsp:nvSpPr>
        <dsp:cNvPr id="0" name=""/>
        <dsp:cNvSpPr/>
      </dsp:nvSpPr>
      <dsp:spPr>
        <a:xfrm>
          <a:off x="7411643" y="159118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Split: Training (2020–2023), Testing (2024)</a:t>
          </a:r>
        </a:p>
      </dsp:txBody>
      <dsp:txXfrm>
        <a:off x="7411643" y="159118"/>
        <a:ext cx="3233964" cy="1371985"/>
      </dsp:txXfrm>
    </dsp:sp>
    <dsp:sp modelId="{A421EA70-BD4C-4DC3-A8B7-A97099E1AC77}">
      <dsp:nvSpPr>
        <dsp:cNvPr id="0" name=""/>
        <dsp:cNvSpPr/>
      </dsp:nvSpPr>
      <dsp:spPr>
        <a:xfrm>
          <a:off x="282221" y="2158301"/>
          <a:ext cx="1371985" cy="1371985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FAA8312-C3C9-4740-AC28-D90D1AB4E5A0}">
      <dsp:nvSpPr>
        <dsp:cNvPr id="0" name=""/>
        <dsp:cNvSpPr/>
      </dsp:nvSpPr>
      <dsp:spPr>
        <a:xfrm>
          <a:off x="570337" y="2446418"/>
          <a:ext cx="795751" cy="795751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BDC173-5925-4F4D-9B72-E7C338E9CFDC}">
      <dsp:nvSpPr>
        <dsp:cNvPr id="0" name=""/>
        <dsp:cNvSpPr/>
      </dsp:nvSpPr>
      <dsp:spPr>
        <a:xfrm>
          <a:off x="1948202" y="2158301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Normalized features using MinMaxScaler</a:t>
          </a:r>
        </a:p>
      </dsp:txBody>
      <dsp:txXfrm>
        <a:off x="1948202" y="2158301"/>
        <a:ext cx="3233964" cy="1371985"/>
      </dsp:txXfrm>
    </dsp:sp>
    <dsp:sp modelId="{C71A34B3-E843-47CC-ACF2-685FA512BE1C}">
      <dsp:nvSpPr>
        <dsp:cNvPr id="0" name=""/>
        <dsp:cNvSpPr/>
      </dsp:nvSpPr>
      <dsp:spPr>
        <a:xfrm>
          <a:off x="5745661" y="2158301"/>
          <a:ext cx="1371985" cy="1371985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2B1A743-3417-463A-8626-FEF64BFFBD60}">
      <dsp:nvSpPr>
        <dsp:cNvPr id="0" name=""/>
        <dsp:cNvSpPr/>
      </dsp:nvSpPr>
      <dsp:spPr>
        <a:xfrm>
          <a:off x="6033778" y="2446418"/>
          <a:ext cx="795751" cy="795751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6926A6-675A-4180-87CE-CE7C395CAA03}">
      <dsp:nvSpPr>
        <dsp:cNvPr id="0" name=""/>
        <dsp:cNvSpPr/>
      </dsp:nvSpPr>
      <dsp:spPr>
        <a:xfrm>
          <a:off x="7411643" y="2158301"/>
          <a:ext cx="3233964" cy="137198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Hyperparameter tuning via GridSearchCV (F1-score)</a:t>
          </a:r>
        </a:p>
      </dsp:txBody>
      <dsp:txXfrm>
        <a:off x="7411643" y="2158301"/>
        <a:ext cx="3233964" cy="13719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3DE495-2EDA-044D-A2DC-81C24C14CD74}" type="datetimeFigureOut">
              <a:rPr lang="en-US" smtClean="0"/>
              <a:t>6/1/25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8ED4FF-1038-BC41-B6B9-FBAE64E9765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2543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8ED4FF-1038-BC41-B6B9-FBAE64E9765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8645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0A484-2642-BB1B-12DC-C6F7A1A03A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1F849F-90CE-093F-1558-C2A8D7DB4D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E6A7F1-C9C1-8F3A-1D0C-E4B7F3DC2C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D99E9A-3488-7B1D-EC5B-F6790ECB31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D6C403-3F18-EF96-839B-D9FEE72FB1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54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361218-7511-D951-C1BA-B63D1119B7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4A40A7-D370-99FD-F75A-C618C4A32B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667C0F-E322-83FC-02A4-CB40D3D9AD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ABFCE-118C-65DA-35D2-3FA905321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A7F570-3A95-83D8-92D9-F8EF5742C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266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C5E035-9444-6CC0-5595-DB6687D68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D24061-473A-08E5-FEA7-AD16927FF03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119A0-416A-A437-55D3-3BC924433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B89897-9EDC-B119-D109-4D4A093280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05C304-6748-41E8-BEEB-7F9DB74DF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72567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71E3B8-09C5-E9A6-11F4-2F26D4385D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2E691-6E19-BE98-0093-A55B0962D1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357C54-6E53-E10D-8569-CC88B352D5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28A56C-873D-337B-7201-DFD5B59EC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4C9CFE-0803-E6FA-E041-509F2B8383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CCD9D05-AA41-84C5-E49B-1EEA88C09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633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56B592-4D84-D568-39DE-9D2F4DDD8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40BD54-EA87-1826-0FE2-0B39EB1E5A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E1969D5-D81B-D994-4F72-8CC9C490FE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3FB7EE-7771-8413-354C-FC8C579D266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1E3CCFD-456E-FFA3-F43F-D6790356BE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2191A2-04EF-B602-CB04-CC3EDCF406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900669-7132-E536-C614-93F951A486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1AC4C1-1385-D068-7A8D-6810BB0AD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9827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6D1E1-4E91-90A5-11CE-9CA96505C9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9736BB-AE20-0AD7-41F5-107A1BB1D2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0430BA-05D1-53DA-F890-F9CA81690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1D63A-18F5-12B3-826E-9992713200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9838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1A6F61-896E-8CF9-C812-5F3A366648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64E7D86-0822-A9B2-DC9E-EC40ACA1F2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C98E40-A9C6-C43B-C100-32BF47EAB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8782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71512-D930-0929-E15F-77AA8CD66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546189-3FCB-CBB7-7C71-229F972F7A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24A351-BCDD-F586-1E00-1D4C058C3E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EA3F96-61A5-EC12-C3B5-81F6F07DD0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9F6D2E-B213-F1C9-96ED-3BD4AE48CA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F4A168-D23E-59A7-505C-8349B4595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9303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F050E-492F-D97A-40AF-651CAF53E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089B40-A30D-82E3-88AB-E59AB4BD71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EBBADD-8763-56B6-5026-6DA86570F4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7C1034-B6E2-1A9F-5D02-C463FAADB5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A4F7CB-FA85-0B54-C2AA-5AD6F7496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8AF166-B4BC-3E71-DFAB-C819FB85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04149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C9D1F-AE7C-F852-323F-12D39F9A4E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F5C5D0-F781-279C-4E88-981B5869E3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8F029-4690-3719-2F36-C02C2B168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FC33EF-9DC8-9351-4A59-5178E5550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39E3CE-CA7F-A742-860C-20E7052D2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56130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E19444A-5B3A-3EDF-68BF-84EDEF50AA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3A97CD-4412-23A2-4633-7166C0B3A1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A1C561-2437-1FC3-23FD-98E40F6A4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0C50CD-E178-4744-9B35-B2F624D6C5E9}" type="datetimeFigureOut">
              <a:rPr lang="en-US" smtClean="0"/>
              <a:t>6/1/25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81D171-79D1-D831-523B-89655C8388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600B06-956D-B9EE-BAA8-54AF62C545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8CC95F-0247-41B6-91CF-DC97C76A70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5105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CBD57C-DAE7-ECB1-8D8C-B772FF2EF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07E657-2C75-C1A5-E120-F8D726DCDCF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4F4346-2A8D-D742-92C7-0DD16F8ADDB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80C50CD-E178-4744-9B35-B2F624D6C5E9}" type="datetimeFigureOut">
              <a:rPr lang="en-US" smtClean="0"/>
              <a:pPr/>
              <a:t>6/1/25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CA1E65-2B1E-B267-E21B-84FBCF205B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A619BA-3006-3BC4-FF8C-905E80C97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8CC95F-0247-41B6-91CF-DC97C76A708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347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Orange and blue numbers and graphs">
            <a:extLst>
              <a:ext uri="{FF2B5EF4-FFF2-40B4-BE49-F238E27FC236}">
                <a16:creationId xmlns:a16="http://schemas.microsoft.com/office/drawing/2014/main" id="{B15B9FA4-E9CD-FC52-07C3-D77CB9FFA8B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0000"/>
          </a:blip>
          <a:srcRect t="6569" b="1595"/>
          <a:stretch>
            <a:fillRect/>
          </a:stretch>
        </p:blipFill>
        <p:spPr>
          <a:xfrm>
            <a:off x="-2" y="-2"/>
            <a:ext cx="12192001" cy="685800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DE835A0-7BD6-6F06-E840-49989BE78D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17870" y="978407"/>
            <a:ext cx="5021182" cy="329010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300" dirty="0">
                <a:solidFill>
                  <a:srgbClr val="FFFFFF"/>
                </a:solidFill>
              </a:rPr>
              <a:t>Stock Market Movement Prediction Using Economic Indicators, Technical Signals, and World Event Sentiment</a:t>
            </a:r>
            <a:br>
              <a:rPr lang="en-US" sz="3300" dirty="0">
                <a:solidFill>
                  <a:srgbClr val="FFFFFF"/>
                </a:solidFill>
              </a:rPr>
            </a:br>
            <a:endParaRPr lang="en-US" sz="3300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070E44-DFBD-9DE7-094E-C6EF40449C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17870" y="4482450"/>
            <a:ext cx="5040785" cy="1724029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2000">
                <a:solidFill>
                  <a:srgbClr val="FFFFFF"/>
                </a:solidFill>
              </a:rPr>
              <a:t>DSC630 Term Project</a:t>
            </a:r>
          </a:p>
          <a:p>
            <a:pPr>
              <a:lnSpc>
                <a:spcPct val="100000"/>
              </a:lnSpc>
            </a:pPr>
            <a:r>
              <a:rPr lang="en-US" sz="2000">
                <a:solidFill>
                  <a:srgbClr val="FFFFFF"/>
                </a:solidFill>
              </a:rPr>
              <a:t>Zicheng (Chance) Xu</a:t>
            </a:r>
          </a:p>
          <a:p>
            <a:pPr>
              <a:lnSpc>
                <a:spcPct val="100000"/>
              </a:lnSpc>
            </a:pPr>
            <a:r>
              <a:rPr lang="en-US" sz="2000">
                <a:solidFill>
                  <a:srgbClr val="FFFFFF"/>
                </a:solidFill>
              </a:rPr>
              <a:t>May 31, 2025</a:t>
            </a:r>
          </a:p>
          <a:p>
            <a:pPr>
              <a:lnSpc>
                <a:spcPct val="100000"/>
              </a:lnSpc>
            </a:pPr>
            <a:r>
              <a:rPr lang="en-US" sz="2000">
                <a:solidFill>
                  <a:srgbClr val="FFFFFF"/>
                </a:solidFill>
              </a:rPr>
              <a:t>Bellevue University</a:t>
            </a:r>
          </a:p>
        </p:txBody>
      </p:sp>
    </p:spTree>
    <p:extLst>
      <p:ext uri="{BB962C8B-B14F-4D97-AF65-F5344CB8AC3E}">
        <p14:creationId xmlns:p14="http://schemas.microsoft.com/office/powerpoint/2010/main" val="36390594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1B36091-101C-32AC-17B9-C3F431C19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Introduction</a:t>
            </a:r>
            <a:br>
              <a:rPr lang="en-US" sz="4000">
                <a:solidFill>
                  <a:srgbClr val="FFFFFF"/>
                </a:solidFill>
              </a:rPr>
            </a:br>
            <a:endParaRPr lang="en-US" sz="4000">
              <a:solidFill>
                <a:srgbClr val="FFFFFF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7FAC260-5EB9-2C8A-0F8B-5AAAB0BC143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783773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193412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C61F6FC-6CF1-BBC2-0C51-42C09CA1DE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Data Sources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78EC97-63CA-EE71-8DFC-8429F2B823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Economic Data (FRED): GDP, Unemployment, Federal Funds Rate, CPI</a:t>
            </a:r>
          </a:p>
          <a:p>
            <a:r>
              <a:rPr lang="en-US" sz="2000" dirty="0"/>
              <a:t>Stock Data (Yahoo Finance): SPY ETF daily prices, technical indicators</a:t>
            </a:r>
          </a:p>
          <a:p>
            <a:r>
              <a:rPr lang="en-US" sz="2000" dirty="0"/>
              <a:t>World Events (Wikipedia): Scraped events with NLP-derived sentiment scores</a:t>
            </a:r>
          </a:p>
          <a:p>
            <a:r>
              <a:rPr lang="en-US" sz="2000" dirty="0"/>
              <a:t>Date range: 2020 - 2024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BEC4CB8-2ABC-E108-94B4-EA095088E4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6723" y="2780068"/>
            <a:ext cx="5150277" cy="1660964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A58748-0732-7E3A-3F74-960D16931639}"/>
              </a:ext>
            </a:extLst>
          </p:cNvPr>
          <p:cNvSpPr txBox="1"/>
          <p:nvPr/>
        </p:nvSpPr>
        <p:spPr>
          <a:xfrm>
            <a:off x="7048955" y="4648689"/>
            <a:ext cx="26100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Economic Data example</a:t>
            </a:r>
          </a:p>
        </p:txBody>
      </p:sp>
    </p:spTree>
    <p:extLst>
      <p:ext uri="{BB962C8B-B14F-4D97-AF65-F5344CB8AC3E}">
        <p14:creationId xmlns:p14="http://schemas.microsoft.com/office/powerpoint/2010/main" val="2909593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DB681D6-DE51-D9AC-37D6-D74459E5E4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16081E-BD31-B7ED-4C78-0050616F76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263D527-1F4D-7BFC-21B5-34D646FEF4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Economic Data Processing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B0027D-D6CE-D0AB-2F7E-F446BA72C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C8A2D2C2-BCFB-BF61-142A-4290B0DC3D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0EC73A-DE9E-E390-A54E-B552A9959E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Loaded CSV files from FRED</a:t>
            </a:r>
          </a:p>
          <a:p>
            <a:r>
              <a:rPr lang="en-US" sz="2000" dirty="0"/>
              <a:t>Renamed columns (e.g., A191RL1Q225SBEA to </a:t>
            </a:r>
            <a:r>
              <a:rPr lang="en-US" sz="2000" dirty="0" err="1"/>
              <a:t>gdp%change</a:t>
            </a:r>
            <a:r>
              <a:rPr lang="en-US" sz="2000" dirty="0"/>
              <a:t>)</a:t>
            </a:r>
          </a:p>
          <a:p>
            <a:r>
              <a:rPr lang="en-US" sz="2000" dirty="0"/>
              <a:t>Converted dates to datetime, forward-filled missing values</a:t>
            </a:r>
          </a:p>
          <a:p>
            <a:r>
              <a:rPr lang="en-US" sz="2000" dirty="0"/>
              <a:t>Validated outliers (e.g., 14.8% unemployment in April 2020)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AB51C7-79E7-EFE4-F19D-B4C4D64FDA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4620CE-EB18-12D6-8E34-90A67D93ED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1750" y="2984778"/>
            <a:ext cx="4438251" cy="34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2951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D4BC076-ED19-E000-466A-29F02E2775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01493CC-369B-ED35-FD6F-970315DBC5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World Events Processing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267887-05AD-0747-C334-44825035F4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Scraped Wikipedia pages (2020–2024) using BeautifulSoup</a:t>
            </a:r>
          </a:p>
          <a:p>
            <a:r>
              <a:rPr lang="en-US" sz="2000"/>
              <a:t>Extracted events under “Events” section, assigned sentiment scores</a:t>
            </a:r>
          </a:p>
          <a:p>
            <a:r>
              <a:rPr lang="en-US" sz="2000"/>
              <a:t>Averaged scores for days with multiple events, assigned 0 for no-event days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2C0198F-CB47-57AE-4682-8B27B057CB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6247" y="3654799"/>
            <a:ext cx="5553537" cy="1124590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96374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B8B5E94-7EAF-EA72-8C15-AECC12EC67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A0407B-A555-9636-ECB7-FA1035301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Stock Data Processing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A149E3-5488-015B-7677-1FC1007BC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 dirty="0"/>
              <a:t>Pulled SPY ETF data via </a:t>
            </a:r>
            <a:r>
              <a:rPr lang="en-US" sz="2000"/>
              <a:t>yfinance</a:t>
            </a:r>
            <a:r>
              <a:rPr lang="en-US" sz="2000" dirty="0"/>
              <a:t> (June 2019–Jan 2025)</a:t>
            </a:r>
          </a:p>
          <a:p>
            <a:r>
              <a:rPr lang="en-US" sz="2000" dirty="0"/>
              <a:t>Calculated technical indicators: EMA, RSI, MACD, Bollinger Bands</a:t>
            </a:r>
          </a:p>
          <a:p>
            <a:r>
              <a:rPr lang="en-US" sz="2000" dirty="0"/>
              <a:t>Derived target: Buy (next close &gt; open), Sell (close ≤ open)</a:t>
            </a:r>
          </a:p>
          <a:p>
            <a:pPr marL="0" indent="0">
              <a:buNone/>
            </a:pPr>
            <a:endParaRPr lang="en-US" sz="2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E6E6CE6-C67B-D9A0-59DF-B241EED1F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852101"/>
            <a:ext cx="5150277" cy="978552"/>
          </a:xfrm>
          <a:prstGeom prst="rect">
            <a:avLst/>
          </a:prstGeom>
        </p:spPr>
      </p:pic>
      <p:sp>
        <p:nvSpPr>
          <p:cNvPr id="50" name="Rectangle 49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8845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75C7C6-28CB-05E7-B2E0-F30E6B198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80">
            <a:extLst>
              <a:ext uri="{FF2B5EF4-FFF2-40B4-BE49-F238E27FC236}">
                <a16:creationId xmlns:a16="http://schemas.microsoft.com/office/drawing/2014/main" id="{058A14AF-9FB5-4CC7-BA35-E8E85D3E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C2F3A8-68A2-6B35-8146-58AC4C4F1B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662" y="386930"/>
            <a:ext cx="10066122" cy="1298448"/>
          </a:xfrm>
        </p:spPr>
        <p:txBody>
          <a:bodyPr anchor="b">
            <a:normAutofit/>
          </a:bodyPr>
          <a:lstStyle/>
          <a:p>
            <a:r>
              <a:rPr lang="en-US" sz="4800" dirty="0"/>
              <a:t>Data Merging</a:t>
            </a:r>
          </a:p>
        </p:txBody>
      </p:sp>
      <p:sp>
        <p:nvSpPr>
          <p:cNvPr id="83" name="Rectangle 82">
            <a:extLst>
              <a:ext uri="{FF2B5EF4-FFF2-40B4-BE49-F238E27FC236}">
                <a16:creationId xmlns:a16="http://schemas.microsoft.com/office/drawing/2014/main" id="{3A9A4357-BD1D-4622-A4FE-766E6AB8D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2" y="1998845"/>
            <a:ext cx="1145459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330B1D-4BCC-1208-E30A-0B62AF2FF3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1" y="2599509"/>
            <a:ext cx="4530898" cy="3639450"/>
          </a:xfrm>
        </p:spPr>
        <p:txBody>
          <a:bodyPr anchor="ctr">
            <a:normAutofit/>
          </a:bodyPr>
          <a:lstStyle/>
          <a:p>
            <a:r>
              <a:rPr lang="en-US" sz="2000"/>
              <a:t>Left-joined stock data with economic and event data on date</a:t>
            </a:r>
          </a:p>
          <a:p>
            <a:r>
              <a:rPr lang="en-US" sz="2000"/>
              <a:t>Final DataFrame: 1,258 records, 17 features</a:t>
            </a:r>
          </a:p>
          <a:p>
            <a:r>
              <a:rPr lang="en-US" sz="2000"/>
              <a:t>Target distribution: 692 buy, 564 sell, 2 hold (merged hold with sell)</a:t>
            </a:r>
          </a:p>
          <a:p>
            <a:pPr marL="0" indent="0">
              <a:buNone/>
            </a:pPr>
            <a:endParaRPr lang="en-US" sz="20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FD4E2D-82B6-D6E6-AD83-04FE1631C7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11532" y="3742657"/>
            <a:ext cx="5150277" cy="1197439"/>
          </a:xfrm>
          <a:prstGeom prst="rect">
            <a:avLst/>
          </a:prstGeom>
        </p:spPr>
      </p:pic>
      <p:sp>
        <p:nvSpPr>
          <p:cNvPr id="87" name="Rectangle 86">
            <a:extLst>
              <a:ext uri="{FF2B5EF4-FFF2-40B4-BE49-F238E27FC236}">
                <a16:creationId xmlns:a16="http://schemas.microsoft.com/office/drawing/2014/main" id="{E6995CE5-F890-4ABA-82A2-26507CE8D2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1228040" y="2313027"/>
            <a:ext cx="781700" cy="15238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9514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FF4B83C-7290-EFEC-D1C3-B363E0E06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2" name="Rectangle 81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ectangle 83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ectangle 85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ectangle 87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BC5EBBB-2E12-BD72-AC2A-D057F2F3D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Modeling Approach</a:t>
            </a:r>
          </a:p>
        </p:txBody>
      </p:sp>
      <p:graphicFrame>
        <p:nvGraphicFramePr>
          <p:cNvPr id="78" name="Content Placeholder 2">
            <a:extLst>
              <a:ext uri="{FF2B5EF4-FFF2-40B4-BE49-F238E27FC236}">
                <a16:creationId xmlns:a16="http://schemas.microsoft.com/office/drawing/2014/main" id="{68581E76-4DB0-658E-DEDF-48001122E58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2957834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049789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9258B2-7119-D459-1CED-C4B294372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DBF61EA3-B236-439E-9C0B-340980D56B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F0B298-9434-2FC3-F5A8-1227EF0120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4800" dirty="0"/>
              <a:t>Model Results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28FAF094-D087-493F-8DF9-A486C2D6B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8D7C88D8-5509-4514-925A-9CE148E5CB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7275593D-F75E-4426-AE3E-2CDEFD228D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A63D2-071B-CA6D-44B4-8DA77121BC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sz="2400" b="1"/>
              <a:t>Random Forest: </a:t>
            </a:r>
            <a:r>
              <a:rPr lang="en-US" sz="2400"/>
              <a:t>50.4% accuracy, F1-score 0.49</a:t>
            </a:r>
          </a:p>
          <a:p>
            <a:pPr lvl="1"/>
            <a:r>
              <a:rPr lang="en-US" dirty="0"/>
              <a:t>Best parameters: </a:t>
            </a:r>
            <a:r>
              <a:rPr lang="en-US"/>
              <a:t>n_estimators</a:t>
            </a:r>
            <a:r>
              <a:rPr lang="en-US" dirty="0"/>
              <a:t>=200, </a:t>
            </a:r>
            <a:r>
              <a:rPr lang="en-US"/>
              <a:t>class_weight</a:t>
            </a:r>
            <a:r>
              <a:rPr lang="en-US" dirty="0"/>
              <a:t>=balanced</a:t>
            </a:r>
          </a:p>
          <a:p>
            <a:r>
              <a:rPr lang="en-US" sz="2400" b="1"/>
              <a:t>XGBoost:</a:t>
            </a:r>
            <a:r>
              <a:rPr lang="en-US" sz="2400"/>
              <a:t> 52.8% accuracy, F1-score 0.38</a:t>
            </a:r>
          </a:p>
          <a:p>
            <a:pPr lvl="1"/>
            <a:r>
              <a:rPr lang="en-US" dirty="0"/>
              <a:t>Best parameters: </a:t>
            </a:r>
            <a:r>
              <a:rPr lang="en-US"/>
              <a:t>learning_rate</a:t>
            </a:r>
            <a:r>
              <a:rPr lang="en-US" dirty="0"/>
              <a:t>=0.01, </a:t>
            </a:r>
            <a:r>
              <a:rPr lang="en-US"/>
              <a:t>max_depth</a:t>
            </a:r>
            <a:r>
              <a:rPr lang="en-US" dirty="0"/>
              <a:t>=3</a:t>
            </a:r>
          </a:p>
          <a:p>
            <a:r>
              <a:rPr lang="en-US" sz="2400"/>
              <a:t>Random Forest selected for better F1-score</a:t>
            </a:r>
          </a:p>
          <a:p>
            <a:pPr marL="0" indent="0">
              <a:buNone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56695808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3AC3A8-8CCD-064B-9598-98D0D506B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A11DBDD4-3D88-C0C4-BCF9-45732CF4C5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7A66FBA-188A-D463-D510-ABA146A17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sz="4800" dirty="0"/>
              <a:t>Key Findings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DC17BA41-7B1C-0B6D-6D86-E4A4E6AB47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5938FC08-1BFA-C57B-66E0-E0A846887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E4C0599B-C619-C43C-D7FD-BE6EA51A12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3574A0F2-08C8-478A-EA28-0D0A0919D0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F52F1-D7B9-6017-5EE7-7263D6BB19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dirty="0"/>
              <a:t>Technical indicators outperformed economic and sentiment features</a:t>
            </a:r>
          </a:p>
          <a:p>
            <a:r>
              <a:rPr lang="en-US" dirty="0"/>
              <a:t>Sentiment data limited by broad Wikipedia events</a:t>
            </a:r>
          </a:p>
          <a:p>
            <a:r>
              <a:rPr lang="en-US" dirty="0"/>
              <a:t>Models struggled with “sell” class prediction</a:t>
            </a:r>
          </a:p>
          <a:p>
            <a:r>
              <a:rPr lang="en-US" dirty="0"/>
              <a:t>Performance aligns with market efficiency (~50% baseline)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1135154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0A1CF2-66A9-3A65-00B3-5388D82C0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815C6C47-A370-FC26-7494-EF427EC820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56F148-1284-8B7B-FD19-B5DD66868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dirty="0"/>
              <a:t>Recommendations &amp; Ethics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C3804691-B901-99F6-BDF1-125AF5989E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B2F10D4A-A975-64A6-4AB7-8AA216CD4D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3EABD99-94D5-2ABC-462B-E33CC0B12C9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C38F5C0E-551F-8997-F4BB-6175E7B745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0563E7-E8B4-75E3-90FF-89026442B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b="1" dirty="0"/>
              <a:t>Future Work: </a:t>
            </a:r>
            <a:r>
              <a:rPr lang="en-US" dirty="0"/>
              <a:t>Use financial-specific sentiment (e.g., </a:t>
            </a:r>
            <a:r>
              <a:rPr lang="en-US" dirty="0" err="1"/>
              <a:t>SeekingAlpha</a:t>
            </a:r>
            <a:r>
              <a:rPr lang="en-US" dirty="0"/>
              <a:t>), explore LSTM models, compare to baseline strategies, explore real-time high frequency trading algos</a:t>
            </a:r>
          </a:p>
          <a:p>
            <a:r>
              <a:rPr lang="en-US" b="1" dirty="0"/>
              <a:t>Ethical Concerns: </a:t>
            </a:r>
            <a:r>
              <a:rPr lang="en-US" dirty="0"/>
              <a:t>Misuse risk, sentiment bias, transparency, access disparity</a:t>
            </a:r>
          </a:p>
          <a:p>
            <a:r>
              <a:rPr lang="en-US" dirty="0"/>
              <a:t>Emphasized educational use and transparent methodology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0471766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CF9E2C-C3AA-03A2-D190-7DF2148EBF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5" name="Rectangle 54">
            <a:extLst>
              <a:ext uri="{FF2B5EF4-FFF2-40B4-BE49-F238E27FC236}">
                <a16:creationId xmlns:a16="http://schemas.microsoft.com/office/drawing/2014/main" id="{39A5B69A-904B-6BFC-5725-1A322AD50F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BC7FF2-BE4E-53A0-BC35-74A4B67FB1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8638" y="386930"/>
            <a:ext cx="9236700" cy="1188950"/>
          </a:xfrm>
        </p:spPr>
        <p:txBody>
          <a:bodyPr anchor="b">
            <a:normAutofit/>
          </a:bodyPr>
          <a:lstStyle/>
          <a:p>
            <a:r>
              <a:rPr lang="en-US" dirty="0"/>
              <a:t>Conclusion</a:t>
            </a:r>
          </a:p>
        </p:txBody>
      </p:sp>
      <p:grpSp>
        <p:nvGrpSpPr>
          <p:cNvPr id="57" name="Group 56">
            <a:extLst>
              <a:ext uri="{FF2B5EF4-FFF2-40B4-BE49-F238E27FC236}">
                <a16:creationId xmlns:a16="http://schemas.microsoft.com/office/drawing/2014/main" id="{578EF6E2-1FC1-1AFE-E824-8238C5277B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" y="1998368"/>
            <a:ext cx="11695083" cy="782176"/>
            <a:chOff x="-2" y="1998368"/>
            <a:chExt cx="11695083" cy="782176"/>
          </a:xfrm>
        </p:grpSpPr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2ED723A-A72B-A6C1-6C2F-C5B70416C05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9" name="Rectangle 58">
              <a:extLst>
                <a:ext uri="{FF2B5EF4-FFF2-40B4-BE49-F238E27FC236}">
                  <a16:creationId xmlns:a16="http://schemas.microsoft.com/office/drawing/2014/main" id="{1BF565AC-ECD3-7AD8-29B7-8DFD9472CF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 flipV="1">
              <a:off x="-2" y="1998845"/>
              <a:ext cx="11454595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61" name="Rectangle 60">
            <a:extLst>
              <a:ext uri="{FF2B5EF4-FFF2-40B4-BE49-F238E27FC236}">
                <a16:creationId xmlns:a16="http://schemas.microsoft.com/office/drawing/2014/main" id="{AB7D94C7-6CDD-C6B5-D07A-8C43EFA91D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11383362" cy="4147845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9C3986-195B-906A-7D4D-AFC0F0AB5A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93660" y="2599509"/>
            <a:ext cx="10143668" cy="3435531"/>
          </a:xfrm>
        </p:spPr>
        <p:txBody>
          <a:bodyPr anchor="ctr">
            <a:normAutofit/>
          </a:bodyPr>
          <a:lstStyle/>
          <a:p>
            <a:r>
              <a:rPr lang="en-US" dirty="0"/>
              <a:t>Integrated diverse data sources into a cohesive model</a:t>
            </a:r>
          </a:p>
          <a:p>
            <a:r>
              <a:rPr lang="en-US" dirty="0"/>
              <a:t>Achieved modest predictive power, valuable with risk management</a:t>
            </a:r>
          </a:p>
          <a:p>
            <a:r>
              <a:rPr lang="en-US" dirty="0"/>
              <a:t>Laid groundwork for future enhancements in financial prediction</a:t>
            </a:r>
          </a:p>
          <a:p>
            <a:pPr marL="0" indent="0"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367307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Words>476</Words>
  <Application>Microsoft Macintosh PowerPoint</Application>
  <PresentationFormat>Widescreen</PresentationFormat>
  <Paragraphs>58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Aptos Display</vt:lpstr>
      <vt:lpstr>Arial</vt:lpstr>
      <vt:lpstr>Office Theme</vt:lpstr>
      <vt:lpstr>Stock Market Movement Prediction Using Economic Indicators, Technical Signals, and World Event Sentiment </vt:lpstr>
      <vt:lpstr>Introduction </vt:lpstr>
      <vt:lpstr>Data Sources</vt:lpstr>
      <vt:lpstr>Economic Data Processing</vt:lpstr>
      <vt:lpstr>World Events Processing</vt:lpstr>
      <vt:lpstr>Stock Data Processing</vt:lpstr>
      <vt:lpstr>Data Merging</vt:lpstr>
      <vt:lpstr>Modeling Approach</vt:lpstr>
      <vt:lpstr>Model Results</vt:lpstr>
      <vt:lpstr>Key Findings</vt:lpstr>
      <vt:lpstr>Recommendations &amp; Ethics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Zicheng Xu</dc:creator>
  <cp:lastModifiedBy>Zicheng Xu</cp:lastModifiedBy>
  <cp:revision>13</cp:revision>
  <dcterms:created xsi:type="dcterms:W3CDTF">2025-06-01T19:03:58Z</dcterms:created>
  <dcterms:modified xsi:type="dcterms:W3CDTF">2025-06-01T21:03:36Z</dcterms:modified>
</cp:coreProperties>
</file>